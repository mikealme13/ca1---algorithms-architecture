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0275213" cy="213883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00021D-DED9-4777-BAC0-48385B695CD3}" v="4" dt="2026-10-04T08:57:34.4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-4096" y="-43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ycon Almeida" userId="4ed6214362c30a1a" providerId="LiveId" clId="{650BBFA0-918C-45B0-B2B0-94C3162EDD22}"/>
    <pc:docChg chg="undo custSel modSld">
      <pc:chgData name="Maycon Almeida" userId="4ed6214362c30a1a" providerId="LiveId" clId="{650BBFA0-918C-45B0-B2B0-94C3162EDD22}" dt="2026-10-04T09:00:46.342" v="194" actId="20577"/>
      <pc:docMkLst>
        <pc:docMk/>
      </pc:docMkLst>
      <pc:sldChg chg="addSp delSp modSp mod">
        <pc:chgData name="Maycon Almeida" userId="4ed6214362c30a1a" providerId="LiveId" clId="{650BBFA0-918C-45B0-B2B0-94C3162EDD22}" dt="2026-10-04T09:00:46.342" v="194" actId="20577"/>
        <pc:sldMkLst>
          <pc:docMk/>
          <pc:sldMk cId="0" sldId="256"/>
        </pc:sldMkLst>
        <pc:spChg chg="mod">
          <ac:chgData name="Maycon Almeida" userId="4ed6214362c30a1a" providerId="LiveId" clId="{650BBFA0-918C-45B0-B2B0-94C3162EDD22}" dt="2026-10-04T08:58:33.381" v="91" actId="6549"/>
          <ac:spMkLst>
            <pc:docMk/>
            <pc:sldMk cId="0" sldId="256"/>
            <ac:spMk id="7" creationId="{00000000-0000-0000-0000-000000000000}"/>
          </ac:spMkLst>
        </pc:spChg>
        <pc:spChg chg="mod">
          <ac:chgData name="Maycon Almeida" userId="4ed6214362c30a1a" providerId="LiveId" clId="{650BBFA0-918C-45B0-B2B0-94C3162EDD22}" dt="2026-10-04T09:00:46.342" v="194" actId="20577"/>
          <ac:spMkLst>
            <pc:docMk/>
            <pc:sldMk cId="0" sldId="256"/>
            <ac:spMk id="92" creationId="{00000000-0000-0000-0000-000000000000}"/>
          </ac:spMkLst>
        </pc:spChg>
        <pc:spChg chg="add">
          <ac:chgData name="Maycon Almeida" userId="4ed6214362c30a1a" providerId="LiveId" clId="{650BBFA0-918C-45B0-B2B0-94C3162EDD22}" dt="2026-10-04T08:56:09.785" v="25"/>
          <ac:spMkLst>
            <pc:docMk/>
            <pc:sldMk cId="0" sldId="256"/>
            <ac:spMk id="107" creationId="{5993FB1A-9BA9-70C0-BDBB-89C08C1953E3}"/>
          </ac:spMkLst>
        </pc:spChg>
        <pc:graphicFrameChg chg="add del mod modGraphic">
          <ac:chgData name="Maycon Almeida" userId="4ed6214362c30a1a" providerId="LiveId" clId="{650BBFA0-918C-45B0-B2B0-94C3162EDD22}" dt="2026-10-04T08:56:42.610" v="32" actId="478"/>
          <ac:graphicFrameMkLst>
            <pc:docMk/>
            <pc:sldMk cId="0" sldId="256"/>
            <ac:graphicFrameMk id="97" creationId="{DC5DF256-DEA8-A516-996E-5EDB6DFEF253}"/>
          </ac:graphicFrameMkLst>
        </pc:graphicFrameChg>
        <pc:graphicFrameChg chg="add mod">
          <ac:chgData name="Maycon Almeida" userId="4ed6214362c30a1a" providerId="LiveId" clId="{650BBFA0-918C-45B0-B2B0-94C3162EDD22}" dt="2026-10-04T08:56:09.785" v="25"/>
          <ac:graphicFrameMkLst>
            <pc:docMk/>
            <pc:sldMk cId="0" sldId="256"/>
            <ac:graphicFrameMk id="98" creationId="{02FA81B8-8670-C3BE-09CF-DF69F2FD38B4}"/>
          </ac:graphicFrameMkLst>
        </pc:graphicFrameChg>
        <pc:graphicFrameChg chg="add mod">
          <ac:chgData name="Maycon Almeida" userId="4ed6214362c30a1a" providerId="LiveId" clId="{650BBFA0-918C-45B0-B2B0-94C3162EDD22}" dt="2026-10-04T08:56:09.785" v="25"/>
          <ac:graphicFrameMkLst>
            <pc:docMk/>
            <pc:sldMk cId="0" sldId="256"/>
            <ac:graphicFrameMk id="99" creationId="{A594C3D8-C4D1-702A-4992-147332A5423F}"/>
          </ac:graphicFrameMkLst>
        </pc:graphicFrameChg>
        <pc:graphicFrameChg chg="add mod">
          <ac:chgData name="Maycon Almeida" userId="4ed6214362c30a1a" providerId="LiveId" clId="{650BBFA0-918C-45B0-B2B0-94C3162EDD22}" dt="2026-10-04T08:56:09.785" v="25"/>
          <ac:graphicFrameMkLst>
            <pc:docMk/>
            <pc:sldMk cId="0" sldId="256"/>
            <ac:graphicFrameMk id="100" creationId="{A2944F08-B4A8-BE32-B0FF-797F0E6274C0}"/>
          </ac:graphicFrameMkLst>
        </pc:graphicFrameChg>
        <pc:graphicFrameChg chg="add mod">
          <ac:chgData name="Maycon Almeida" userId="4ed6214362c30a1a" providerId="LiveId" clId="{650BBFA0-918C-45B0-B2B0-94C3162EDD22}" dt="2026-10-04T08:56:09.785" v="25"/>
          <ac:graphicFrameMkLst>
            <pc:docMk/>
            <pc:sldMk cId="0" sldId="256"/>
            <ac:graphicFrameMk id="101" creationId="{63C45F33-521E-5640-8765-6A22FA4EF01F}"/>
          </ac:graphicFrameMkLst>
        </pc:graphicFrameChg>
        <pc:graphicFrameChg chg="add mod">
          <ac:chgData name="Maycon Almeida" userId="4ed6214362c30a1a" providerId="LiveId" clId="{650BBFA0-918C-45B0-B2B0-94C3162EDD22}" dt="2026-10-04T08:56:09.785" v="25"/>
          <ac:graphicFrameMkLst>
            <pc:docMk/>
            <pc:sldMk cId="0" sldId="256"/>
            <ac:graphicFrameMk id="102" creationId="{67EA5088-2492-8DD2-3EBD-D015177FCB2D}"/>
          </ac:graphicFrameMkLst>
        </pc:graphicFrameChg>
        <pc:graphicFrameChg chg="add mod">
          <ac:chgData name="Maycon Almeida" userId="4ed6214362c30a1a" providerId="LiveId" clId="{650BBFA0-918C-45B0-B2B0-94C3162EDD22}" dt="2026-10-04T08:56:09.785" v="25"/>
          <ac:graphicFrameMkLst>
            <pc:docMk/>
            <pc:sldMk cId="0" sldId="256"/>
            <ac:graphicFrameMk id="103" creationId="{03793A16-5892-8967-1FEC-9528D13C91D8}"/>
          </ac:graphicFrameMkLst>
        </pc:graphicFrameChg>
        <pc:graphicFrameChg chg="add mod">
          <ac:chgData name="Maycon Almeida" userId="4ed6214362c30a1a" providerId="LiveId" clId="{650BBFA0-918C-45B0-B2B0-94C3162EDD22}" dt="2026-10-04T08:56:09.785" v="25"/>
          <ac:graphicFrameMkLst>
            <pc:docMk/>
            <pc:sldMk cId="0" sldId="256"/>
            <ac:graphicFrameMk id="104" creationId="{7879ADC7-DD5E-1E1C-60D2-3EA2FDCCCE57}"/>
          </ac:graphicFrameMkLst>
        </pc:graphicFrameChg>
        <pc:graphicFrameChg chg="add mod">
          <ac:chgData name="Maycon Almeida" userId="4ed6214362c30a1a" providerId="LiveId" clId="{650BBFA0-918C-45B0-B2B0-94C3162EDD22}" dt="2026-10-04T08:56:09.785" v="25"/>
          <ac:graphicFrameMkLst>
            <pc:docMk/>
            <pc:sldMk cId="0" sldId="256"/>
            <ac:graphicFrameMk id="105" creationId="{CB132E39-F74A-4C42-D75A-65A10380FECA}"/>
          </ac:graphicFrameMkLst>
        </pc:graphicFrame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0275784" cy="2697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697480"/>
            <a:ext cx="30275784" cy="164592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2103120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0" b="1" i="0">
                <a:solidFill>
                  <a:srgbClr val="FFFFFF"/>
                </a:solidFill>
                <a:latin typeface="Calibri"/>
              </a:rPr>
              <a:t>Party Food Storage Unit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221284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 i="0">
                <a:solidFill>
                  <a:srgbClr val="D6DEEC"/>
                </a:solidFill>
                <a:latin typeface="Calibri"/>
              </a:rPr>
              <a:t>Choosing and implementing the most suitable data structure: a fixed-capacity circular-array DEQUE that is a stack and a queue at once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939" b="0" i="0">
                <a:solidFill>
                  <a:srgbClr val="A8B8D4"/>
                </a:solidFill>
                <a:latin typeface="Calibri"/>
              </a:rPr>
              <a:t>CA1  |  Algorithms &amp; Data Structures  |  BSc (Hons) Computing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2549104" y="384048"/>
            <a:ext cx="7223760" cy="1920240"/>
          </a:xfrm>
          <a:prstGeom prst="rect">
            <a:avLst/>
          </a:prstGeom>
          <a:solidFill>
            <a:srgbClr val="2E528C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777704" y="548640"/>
            <a:ext cx="6766560" cy="1264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lang="en-IE" sz="2900" b="1" i="0" dirty="0">
                <a:solidFill>
                  <a:srgbClr val="FFFFFF"/>
                </a:solidFill>
                <a:latin typeface="Calibri"/>
              </a:rPr>
              <a:t>Grazielle Matsuyama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lang="en-IE" sz="2900" b="1" i="0" dirty="0">
                <a:solidFill>
                  <a:srgbClr val="FFFFFF"/>
                </a:solidFill>
                <a:latin typeface="Calibri"/>
              </a:rPr>
              <a:t>Maycon Almeida</a:t>
            </a:r>
            <a:endParaRPr sz="2900" b="1" i="0" dirty="0">
              <a:solidFill>
                <a:srgbClr val="FFFFFF"/>
              </a:solidFill>
              <a:latin typeface="Calibri"/>
            </a:endParaRPr>
          </a:p>
          <a:p>
            <a:pPr algn="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</a:pPr>
            <a:r>
              <a:rPr sz="1670" b="0" i="0" dirty="0">
                <a:solidFill>
                  <a:srgbClr val="C9D5E8"/>
                </a:solidFill>
                <a:latin typeface="Calibri"/>
              </a:rPr>
              <a:t>Submission: October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73552"/>
            <a:ext cx="9451848" cy="8000726"/>
          </a:xfrm>
          <a:prstGeom prst="rect">
            <a:avLst/>
          </a:prstGeom>
          <a:solidFill>
            <a:srgbClr val="F4F6F9"/>
          </a:solidFill>
          <a:ln w="15875">
            <a:solidFill>
              <a:srgbClr val="BFC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3273552"/>
            <a:ext cx="9451848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364992"/>
            <a:ext cx="8903208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1.  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4325112"/>
            <a:ext cx="8939783" cy="17711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39" b="1" i="0">
                <a:solidFill>
                  <a:srgbClr val="1A1A1A"/>
                </a:solidFill>
                <a:latin typeface="Calibri"/>
              </a:rPr>
              <a:t>A fast-food restaurant stores party food in one unit that holds AT MOST 8 TRAYS.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</a:pPr>
            <a:r>
              <a:rPr sz="1760" b="0" i="0">
                <a:solidFill>
                  <a:srgbClr val="1A1A1A"/>
                </a:solidFill>
                <a:latin typeface="Calibri"/>
              </a:rPr>
              <a:t>Each tray records: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670" b="0" i="0">
                <a:solidFill>
                  <a:srgbClr val="1A1A1A"/>
                </a:solidFill>
                <a:latin typeface="Calibri"/>
              </a:rPr>
              <a:t>•  food: Burger, Pizza, Fries, Sandwich or Hot Dog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670" b="0" i="0">
                <a:solidFill>
                  <a:srgbClr val="1A1A1A"/>
                </a:solidFill>
                <a:latin typeface="Calibri"/>
              </a:rPr>
              <a:t>•  weight in grams (1 – 5000)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670" b="0" i="0">
                <a:solidFill>
                  <a:srgbClr val="1A1A1A"/>
                </a:solidFill>
                <a:latin typeface="Calibri"/>
              </a:rPr>
              <a:t>•  best-before date — today up to 14 days ahead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0" b="0" i="0">
                <a:solidFill>
                  <a:srgbClr val="1A1A1A"/>
                </a:solidFill>
                <a:latin typeface="Calibri"/>
              </a:rPr>
              <a:t>•  the time it was stored (stamped automatically)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" y="6333985"/>
            <a:ext cx="8939783" cy="1278710"/>
          </a:xfrm>
          <a:prstGeom prst="rect">
            <a:avLst/>
          </a:prstGeom>
          <a:solidFill>
            <a:srgbClr val="FBE4D5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6535153"/>
            <a:ext cx="8537448" cy="876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760" b="1" i="0">
                <a:solidFill>
                  <a:srgbClr val="C55A11"/>
                </a:solidFill>
                <a:latin typeface="Calibri"/>
              </a:rPr>
              <a:t>The chef may work in TWO ways — the brief allows both: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</a:pPr>
            <a:r>
              <a:rPr sz="1670" b="0" i="0">
                <a:solidFill>
                  <a:srgbClr val="1A1A1A"/>
                </a:solidFill>
                <a:latin typeface="Calibri"/>
              </a:rPr>
              <a:t>A   front side to add AND remove  →  last in, first out  →  a STACK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0" b="0" i="0">
                <a:solidFill>
                  <a:srgbClr val="1A1A1A"/>
                </a:solidFill>
                <a:latin typeface="Calibri"/>
              </a:rPr>
              <a:t>B   add at the front, remove at the opposite side  →  first in, first out  →  a QUEUE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7887015"/>
            <a:ext cx="8939783" cy="3546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1F3864"/>
                </a:solidFill>
                <a:latin typeface="Calibri"/>
              </a:rPr>
              <a:t>The unit: 8 tray slots, loaded from the front side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78992" y="8241689"/>
            <a:ext cx="973454" cy="1005840"/>
          </a:xfrm>
          <a:prstGeom prst="rect">
            <a:avLst/>
          </a:prstGeom>
          <a:solidFill>
            <a:srgbClr val="FFD966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10" b="1">
                <a:solidFill>
                  <a:srgbClr val="1A1A1A"/>
                </a:solidFill>
                <a:latin typeface="Calibri"/>
              </a:rPr>
              <a:t>Fries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16455" y="8241689"/>
            <a:ext cx="973454" cy="1005840"/>
          </a:xfrm>
          <a:prstGeom prst="rect">
            <a:avLst/>
          </a:prstGeom>
          <a:solidFill>
            <a:srgbClr val="FFD966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10" b="1">
                <a:solidFill>
                  <a:srgbClr val="1A1A1A"/>
                </a:solidFill>
                <a:latin typeface="Calibri"/>
              </a:rPr>
              <a:t>Pizza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3918" y="8241689"/>
            <a:ext cx="973454" cy="1005840"/>
          </a:xfrm>
          <a:prstGeom prst="rect">
            <a:avLst/>
          </a:prstGeom>
          <a:solidFill>
            <a:srgbClr val="FFD966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10" b="1">
                <a:solidFill>
                  <a:srgbClr val="1A1A1A"/>
                </a:solidFill>
                <a:latin typeface="Calibri"/>
              </a:rPr>
              <a:t>Burger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91381" y="8241689"/>
            <a:ext cx="973454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40" b="0">
                <a:solidFill>
                  <a:srgbClr val="5A606A"/>
                </a:solidFill>
                <a:latin typeface="Calibri"/>
              </a:rPr>
              <a:t>empty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28844" y="8241689"/>
            <a:ext cx="973454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40" b="0">
                <a:solidFill>
                  <a:srgbClr val="5A606A"/>
                </a:solidFill>
                <a:latin typeface="Calibri"/>
              </a:rPr>
              <a:t>empty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6307" y="8241689"/>
            <a:ext cx="973454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40" b="0">
                <a:solidFill>
                  <a:srgbClr val="5A606A"/>
                </a:solidFill>
                <a:latin typeface="Calibri"/>
              </a:rPr>
              <a:t>empty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03769" y="8241689"/>
            <a:ext cx="973454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40" b="0">
                <a:solidFill>
                  <a:srgbClr val="5A606A"/>
                </a:solidFill>
                <a:latin typeface="Calibri"/>
              </a:rPr>
              <a:t>empty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41232" y="8241689"/>
            <a:ext cx="973454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40" b="0">
                <a:solidFill>
                  <a:srgbClr val="5A606A"/>
                </a:solidFill>
                <a:latin typeface="Calibri"/>
              </a:rPr>
              <a:t>empty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9302393"/>
            <a:ext cx="446989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C55A11"/>
                </a:solidFill>
                <a:latin typeface="Calibri"/>
              </a:rPr>
              <a:t>▲  FRONT side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8844" y="9302393"/>
            <a:ext cx="446989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1F3864"/>
                </a:solidFill>
                <a:latin typeface="Calibri"/>
              </a:rPr>
              <a:t>BACK side  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9759593"/>
            <a:ext cx="8939783" cy="5463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</a:pPr>
            <a:r>
              <a:rPr sz="1670" b="1" i="0">
                <a:solidFill>
                  <a:srgbClr val="C55A11"/>
                </a:solidFill>
                <a:latin typeface="Calibri"/>
              </a:rPr>
              <a:t>Add  →  always at the FRONT, in both modes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0" b="1" i="0">
                <a:solidFill>
                  <a:srgbClr val="1F3864"/>
                </a:solidFill>
                <a:latin typeface="Calibri"/>
              </a:rPr>
              <a:t>Remove  →  FRONT in Stack mode   |   BACK in Queue mode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11685758"/>
            <a:ext cx="9451848" cy="3609014"/>
          </a:xfrm>
          <a:prstGeom prst="rect">
            <a:avLst/>
          </a:prstGeom>
          <a:solidFill>
            <a:srgbClr val="F4F6F9"/>
          </a:solidFill>
          <a:ln w="15875">
            <a:solidFill>
              <a:srgbClr val="BFC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11685758"/>
            <a:ext cx="9451848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11777198"/>
            <a:ext cx="8903208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2.  Operations Implemented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12737318"/>
            <a:ext cx="8939783" cy="1289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</a:pPr>
            <a:r>
              <a:rPr sz="1580" b="0" i="0">
                <a:solidFill>
                  <a:srgbClr val="1A1A1A"/>
                </a:solidFill>
                <a:latin typeface="Consolas"/>
              </a:rPr>
              <a:t>1  Add a tray at the front       4  Display all, front to back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</a:pPr>
            <a:r>
              <a:rPr sz="1580" b="0" i="0">
                <a:solidFill>
                  <a:srgbClr val="1A1A1A"/>
                </a:solidFill>
                <a:latin typeface="Consolas"/>
              </a:rPr>
              <a:t>2  Remove (front or back)        5  Change mode (Stack / Queue)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</a:pPr>
            <a:r>
              <a:rPr sz="1580" b="0" i="0">
                <a:solidFill>
                  <a:srgbClr val="1A1A1A"/>
                </a:solidFill>
                <a:latin typeface="Consolas"/>
              </a:rPr>
              <a:t>3  Peek: top and next one out    6  Complexity report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</a:pPr>
            <a:r>
              <a:rPr sz="1580" b="0" i="0">
                <a:solidFill>
                  <a:srgbClr val="1A1A1A"/>
                </a:solidFill>
                <a:latin typeface="Consolas"/>
              </a:rPr>
              <a:t>0  Exit (asks to confirm)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" y="14227548"/>
            <a:ext cx="8939783" cy="489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0" b="0" i="1">
                <a:solidFill>
                  <a:srgbClr val="5A606A"/>
                </a:solidFill>
                <a:latin typeface="Calibri"/>
              </a:rPr>
              <a:t>Input is validated twice on purpose: InputHelper re-asks until the value is legal, and FoodItem's constructor checks every rule again — so an invalid tray can never exist.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15706252"/>
            <a:ext cx="9451848" cy="5178643"/>
          </a:xfrm>
          <a:prstGeom prst="rect">
            <a:avLst/>
          </a:prstGeom>
          <a:solidFill>
            <a:srgbClr val="F4F6F9"/>
          </a:solidFill>
          <a:ln w="15875">
            <a:solidFill>
              <a:srgbClr val="BFC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2920" y="15706252"/>
            <a:ext cx="9451848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" y="15797692"/>
            <a:ext cx="8903208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3.  Testing &amp; Error Handling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" y="16757812"/>
            <a:ext cx="2743200" cy="1049560"/>
          </a:xfrm>
          <a:prstGeom prst="rect">
            <a:avLst/>
          </a:prstGeom>
          <a:solidFill>
            <a:srgbClr val="E2EFE6"/>
          </a:solidFill>
          <a:ln w="19050">
            <a:solidFill>
              <a:srgbClr val="1E6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16757812"/>
            <a:ext cx="2523744" cy="1049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E6B3A"/>
                </a:solidFill>
                <a:latin typeface="Calibri"/>
              </a:rPr>
              <a:t>27 / 27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1E6B3A"/>
                </a:solidFill>
                <a:latin typeface="Calibri"/>
              </a:rPr>
              <a:t>JUnit 5 tests pass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22191" y="16757812"/>
            <a:ext cx="5876543" cy="1049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</a:pPr>
            <a:r>
              <a:rPr sz="1670" b="0" i="0">
                <a:solidFill>
                  <a:srgbClr val="1A1A1A"/>
                </a:solidFill>
                <a:latin typeface="Calibri"/>
              </a:rPr>
              <a:t>CircularDequeTest  7     •     FoodStorageTest  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70" b="0" i="0">
                <a:solidFill>
                  <a:srgbClr val="1A1A1A"/>
                </a:solidFill>
                <a:latin typeface="Calibri"/>
              </a:rPr>
              <a:t>FoodItemTest  6     •     StorageMenuTest  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A606A"/>
                </a:solidFill>
                <a:latin typeface="Calibri"/>
              </a:rPr>
              <a:t>StorageMenuTest types scripted input into the real menu, so the messages a user actually sees are tested too.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" y="18045117"/>
            <a:ext cx="8939783" cy="21227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</a:pPr>
            <a:r>
              <a:rPr sz="1760" b="1" i="0">
                <a:solidFill>
                  <a:srgbClr val="1A1A1A"/>
                </a:solidFill>
                <a:latin typeface="Calibri"/>
              </a:rPr>
              <a:t>Custom checked exceptions — the menu catches both, so the application never crashes: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</a:pPr>
            <a:r>
              <a:rPr sz="1580" b="0" i="0">
                <a:solidFill>
                  <a:srgbClr val="1A1A1A"/>
                </a:solidFill>
                <a:latin typeface="Consolas"/>
              </a:rPr>
              <a:t>StorageFullException  →  a 9th tray is refused, and its details are not even asked for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580" b="0" i="0">
                <a:solidFill>
                  <a:srgbClr val="1A1A1A"/>
                </a:solidFill>
                <a:latin typeface="Consolas"/>
              </a:rPr>
              <a:t>StorageEmptyException  →  remove, peek and display, when the unit is empty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0" b="0" i="0">
                <a:solidFill>
                  <a:srgbClr val="1A1A1A"/>
                </a:solidFill>
                <a:latin typeface="Calibri"/>
              </a:rPr>
              <a:t>Validation rejects an unknown food (“cake”), a non-numeric or out-of-range weight, an impossible date (31/02/2026 — strict uuuu parsing), a past date, a date more than 14 days ahead, and any menu choice outside 0–6.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411968" y="3273552"/>
            <a:ext cx="9451848" cy="12390215"/>
          </a:xfrm>
          <a:prstGeom prst="rect">
            <a:avLst/>
          </a:prstGeom>
          <a:solidFill>
            <a:srgbClr val="F4F6F9"/>
          </a:solidFill>
          <a:ln w="15875">
            <a:solidFill>
              <a:srgbClr val="BFC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411968" y="3273552"/>
            <a:ext cx="9451848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686288" y="3364992"/>
            <a:ext cx="8903208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4.  The Data Structure We Chose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68000" y="4325112"/>
            <a:ext cx="8939783" cy="105188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850879" y="4507992"/>
            <a:ext cx="8574023" cy="686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DEQUE (double-ended queue) on a CIRCULAR ARRAY of 8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0" b="0" i="0">
                <a:solidFill>
                  <a:srgbClr val="C9D5E8"/>
                </a:solidFill>
                <a:latin typeface="Calibri"/>
              </a:rPr>
              <a:t>a deque adds and removes at BOTH ends in O(1) — so it is a stack and a queue at the same 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68000" y="5651314"/>
            <a:ext cx="8939783" cy="286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F3864"/>
                </a:solidFill>
                <a:latin typeface="Calibri"/>
              </a:rPr>
              <a:t>Why not something else?</a:t>
            </a:r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10668000" y="6047846"/>
          <a:ext cx="8939783" cy="280275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395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0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394">
                <a:tc>
                  <a:txBody>
                    <a:bodyPr/>
                    <a:lstStyle/>
                    <a:p>
                      <a:pPr algn="l"/>
                      <a:r>
                        <a:rPr sz="1580" b="1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82296" marR="82296" anchor="ctr">
                    <a:solidFill>
                      <a:srgbClr val="2E52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1">
                          <a:solidFill>
                            <a:srgbClr val="FFFFFF"/>
                          </a:solidFill>
                          <a:latin typeface="Calibri"/>
                        </a:rPr>
                        <a:t>Problem for this scenario</a:t>
                      </a:r>
                    </a:p>
                  </a:txBody>
                  <a:tcPr marL="82296" marR="82296" anchor="ctr">
                    <a:solidFill>
                      <a:srgbClr val="2E52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394">
                <a:tc>
                  <a:txBody>
                    <a:bodyPr/>
                    <a:lstStyle/>
                    <a:p>
                      <a:pPr algn="l"/>
                      <a:r>
                        <a:rPr sz="1580" b="0">
                          <a:solidFill>
                            <a:srgbClr val="1A1A1A"/>
                          </a:solidFill>
                          <a:latin typeface="Calibri"/>
                        </a:rPr>
                        <a:t>Stack only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0">
                          <a:solidFill>
                            <a:srgbClr val="1A1A1A"/>
                          </a:solidFill>
                          <a:latin typeface="Calibri"/>
                        </a:rPr>
                        <a:t>Covers just one of the chef's two options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394">
                <a:tc>
                  <a:txBody>
                    <a:bodyPr/>
                    <a:lstStyle/>
                    <a:p>
                      <a:pPr algn="l"/>
                      <a:r>
                        <a:rPr sz="1580" b="0">
                          <a:solidFill>
                            <a:srgbClr val="1A1A1A"/>
                          </a:solidFill>
                          <a:latin typeface="Calibri"/>
                        </a:rPr>
                        <a:t>Queue only</a:t>
                      </a:r>
                    </a:p>
                  </a:txBody>
                  <a:tcPr marL="82296" marR="82296" anchor="ctr"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0">
                          <a:solidFill>
                            <a:srgbClr val="1A1A1A"/>
                          </a:solidFill>
                          <a:latin typeface="Calibri"/>
                        </a:rPr>
                        <a:t>Covers just the other one</a:t>
                      </a:r>
                    </a:p>
                  </a:txBody>
                  <a:tcPr marL="82296" marR="82296" anchor="ctr">
                    <a:solidFill>
                      <a:srgbClr val="EA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394">
                <a:tc>
                  <a:txBody>
                    <a:bodyPr/>
                    <a:lstStyle/>
                    <a:p>
                      <a:pPr algn="l"/>
                      <a:r>
                        <a:rPr sz="1580" b="0">
                          <a:solidFill>
                            <a:srgbClr val="1A1A1A"/>
                          </a:solidFill>
                          <a:latin typeface="Calibri"/>
                        </a:rPr>
                        <a:t>ArrayList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0">
                          <a:solidFill>
                            <a:srgbClr val="1A1A1A"/>
                          </a:solidFill>
                          <a:latin typeface="Calibri"/>
                        </a:rPr>
                        <a:t>Front removal shifts every element — O(n); no limit of 8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394">
                <a:tc>
                  <a:txBody>
                    <a:bodyPr/>
                    <a:lstStyle/>
                    <a:p>
                      <a:pPr algn="l"/>
                      <a:r>
                        <a:rPr sz="1580" b="0">
                          <a:solidFill>
                            <a:srgbClr val="1A1A1A"/>
                          </a:solidFill>
                          <a:latin typeface="Calibri"/>
                        </a:rPr>
                        <a:t>LinkedList / ArrayDeque</a:t>
                      </a:r>
                    </a:p>
                  </a:txBody>
                  <a:tcPr marL="82296" marR="82296" anchor="ctr"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0">
                          <a:solidFill>
                            <a:srgbClr val="1A1A1A"/>
                          </a:solidFill>
                          <a:latin typeface="Calibri"/>
                        </a:rPr>
                        <a:t>Grow without limit; the 8-tray rule must be bolted on</a:t>
                      </a:r>
                    </a:p>
                  </a:txBody>
                  <a:tcPr marL="82296" marR="82296" anchor="ctr">
                    <a:solidFill>
                      <a:srgbClr val="EA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394">
                <a:tc>
                  <a:txBody>
                    <a:bodyPr/>
                    <a:lstStyle/>
                    <a:p>
                      <a:pPr algn="l"/>
                      <a:r>
                        <a:rPr sz="1580" b="0">
                          <a:solidFill>
                            <a:srgbClr val="1A1A1A"/>
                          </a:solidFill>
                          <a:latin typeface="Calibri"/>
                        </a:rPr>
                        <a:t>Plain array, no wrap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0">
                          <a:solidFill>
                            <a:srgbClr val="1A1A1A"/>
                          </a:solidFill>
                          <a:latin typeface="Calibri"/>
                        </a:rPr>
                        <a:t>Adding at the front needs shifting — O(n)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394">
                <a:tc>
                  <a:txBody>
                    <a:bodyPr/>
                    <a:lstStyle/>
                    <a:p>
                      <a:pPr algn="l"/>
                      <a:r>
                        <a:rPr sz="1580" b="0">
                          <a:solidFill>
                            <a:srgbClr val="1A1A1A"/>
                          </a:solidFill>
                          <a:latin typeface="Calibri"/>
                        </a:rPr>
                        <a:t>Circular-array deque</a:t>
                      </a:r>
                    </a:p>
                  </a:txBody>
                  <a:tcPr marL="82296" marR="82296" anchor="ctr"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0">
                          <a:solidFill>
                            <a:srgbClr val="1A1A1A"/>
                          </a:solidFill>
                          <a:latin typeface="Calibri"/>
                        </a:rPr>
                        <a:t>O(1) at both ends, capacity 8 built in, no shifting</a:t>
                      </a:r>
                    </a:p>
                  </a:txBody>
                  <a:tcPr marL="82296" marR="82296" anchor="ctr"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5" name="Rectangle 44"/>
          <p:cNvSpPr/>
          <p:nvPr/>
        </p:nvSpPr>
        <p:spPr>
          <a:xfrm>
            <a:off x="10668000" y="8450212"/>
            <a:ext cx="8939783" cy="400394"/>
          </a:xfrm>
          <a:prstGeom prst="rect">
            <a:avLst/>
          </a:prstGeom>
          <a:noFill/>
          <a:ln w="317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668000" y="9124926"/>
            <a:ext cx="8939783" cy="286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F3864"/>
                </a:solidFill>
                <a:latin typeface="Calibri"/>
              </a:rPr>
              <a:t>The algorithm: index arithmetic, not element shifting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668000" y="9521458"/>
            <a:ext cx="8939783" cy="15985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905744" y="9759202"/>
            <a:ext cx="8464296" cy="11230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760" b="0" i="0">
                <a:solidFill>
                  <a:srgbClr val="FFD966"/>
                </a:solidFill>
                <a:latin typeface="Consolas"/>
              </a:rPr>
              <a:t>addFirst     front = (front - 1 + 8) % 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760" b="0" i="0">
                <a:solidFill>
                  <a:srgbClr val="FFD966"/>
                </a:solidFill>
                <a:latin typeface="Consolas"/>
              </a:rPr>
              <a:t>removeFirst  front = (front + 1) % 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760" b="0" i="0">
                <a:solidFill>
                  <a:srgbClr val="9CDCFE"/>
                </a:solidFill>
                <a:latin typeface="Consolas"/>
              </a:rPr>
              <a:t>back         (front + size - 1) % 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760" b="0" i="0">
                <a:solidFill>
                  <a:srgbClr val="9CDCFE"/>
                </a:solidFill>
                <a:latin typeface="Consolas"/>
              </a:rPr>
              <a:t>addLast      (front + size) % 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68000" y="11321191"/>
            <a:ext cx="8939783" cy="489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0" b="0" i="1">
                <a:solidFill>
                  <a:srgbClr val="5A606A"/>
                </a:solidFill>
                <a:latin typeface="Calibri"/>
              </a:rPr>
              <a:t>Only two numbers are stored: front and size. The back is calculated, never stored, and % 8 makes index 0 follow index 7.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759440" y="12524316"/>
            <a:ext cx="103060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40" b="0">
                <a:solidFill>
                  <a:srgbClr val="5A606A"/>
                </a:solidFill>
                <a:latin typeface="Calibri"/>
              </a:rPr>
              <a:t>empty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59440" y="13475292"/>
            <a:ext cx="10306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A606A"/>
                </a:solidFill>
                <a:latin typeface="Calibri"/>
              </a:rPr>
              <a:t>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854053" y="12524316"/>
            <a:ext cx="103060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40" b="0">
                <a:solidFill>
                  <a:srgbClr val="5A606A"/>
                </a:solidFill>
                <a:latin typeface="Calibri"/>
              </a:rPr>
              <a:t>empty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854053" y="13475292"/>
            <a:ext cx="10306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A606A"/>
                </a:solidFill>
                <a:latin typeface="Calibri"/>
              </a:rPr>
              <a:t>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948666" y="12524316"/>
            <a:ext cx="103060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40" b="0">
                <a:solidFill>
                  <a:srgbClr val="5A606A"/>
                </a:solidFill>
                <a:latin typeface="Calibri"/>
              </a:rPr>
              <a:t>empty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948666" y="13475292"/>
            <a:ext cx="10306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A606A"/>
                </a:solidFill>
                <a:latin typeface="Calibri"/>
              </a:rPr>
              <a:t>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4043278" y="12524316"/>
            <a:ext cx="103060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40" b="0">
                <a:solidFill>
                  <a:srgbClr val="5A606A"/>
                </a:solidFill>
                <a:latin typeface="Calibri"/>
              </a:rPr>
              <a:t>empty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043278" y="13475292"/>
            <a:ext cx="10306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A606A"/>
                </a:solidFill>
                <a:latin typeface="Calibri"/>
              </a:rPr>
              <a:t>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137892" y="12524316"/>
            <a:ext cx="103060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40" b="0">
                <a:solidFill>
                  <a:srgbClr val="5A606A"/>
                </a:solidFill>
                <a:latin typeface="Calibri"/>
              </a:rPr>
              <a:t>empty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137892" y="13475292"/>
            <a:ext cx="10306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A606A"/>
                </a:solidFill>
                <a:latin typeface="Calibri"/>
              </a:rPr>
              <a:t>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232504" y="12524316"/>
            <a:ext cx="1030604" cy="914400"/>
          </a:xfrm>
          <a:prstGeom prst="rect">
            <a:avLst/>
          </a:prstGeom>
          <a:solidFill>
            <a:srgbClr val="FFD966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10" b="1">
                <a:solidFill>
                  <a:srgbClr val="1A1A1A"/>
                </a:solidFill>
                <a:latin typeface="Calibri"/>
              </a:rPr>
              <a:t>Fries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232504" y="13475292"/>
            <a:ext cx="10306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A606A"/>
                </a:solidFill>
                <a:latin typeface="Calibri"/>
              </a:rPr>
              <a:t>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327117" y="12524316"/>
            <a:ext cx="1030604" cy="914400"/>
          </a:xfrm>
          <a:prstGeom prst="rect">
            <a:avLst/>
          </a:prstGeom>
          <a:solidFill>
            <a:srgbClr val="FFD966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10" b="1">
                <a:solidFill>
                  <a:srgbClr val="1A1A1A"/>
                </a:solidFill>
                <a:latin typeface="Calibri"/>
              </a:rPr>
              <a:t>Pizza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327117" y="13475292"/>
            <a:ext cx="10306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A606A"/>
                </a:solidFill>
                <a:latin typeface="Calibri"/>
              </a:rPr>
              <a:t>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421731" y="12524316"/>
            <a:ext cx="1030604" cy="914400"/>
          </a:xfrm>
          <a:prstGeom prst="rect">
            <a:avLst/>
          </a:prstGeom>
          <a:solidFill>
            <a:srgbClr val="FFD966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10" b="1">
                <a:solidFill>
                  <a:srgbClr val="1A1A1A"/>
                </a:solidFill>
                <a:latin typeface="Calibri"/>
              </a:rPr>
              <a:t>Burger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421731" y="13475292"/>
            <a:ext cx="10306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A606A"/>
                </a:solidFill>
                <a:latin typeface="Calibri"/>
              </a:rPr>
              <a:t>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409545" y="11975676"/>
            <a:ext cx="274053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C55A11"/>
                </a:solidFill>
                <a:latin typeface="Calibri"/>
              </a:rPr>
              <a:t>front = 5</a:t>
            </a:r>
          </a:p>
        </p:txBody>
      </p:sp>
      <p:sp>
        <p:nvSpPr>
          <p:cNvPr id="67" name="Down Arrow 66"/>
          <p:cNvSpPr/>
          <p:nvPr/>
        </p:nvSpPr>
        <p:spPr>
          <a:xfrm>
            <a:off x="16660939" y="12304860"/>
            <a:ext cx="237744" cy="201168"/>
          </a:xfrm>
          <a:prstGeom prst="down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7598771" y="13731324"/>
            <a:ext cx="274053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1F3864"/>
                </a:solidFill>
                <a:latin typeface="Calibri"/>
              </a:rPr>
              <a:t>back = 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68000" y="14170236"/>
            <a:ext cx="8939783" cy="1017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80" b="0" i="0">
                <a:solidFill>
                  <a:srgbClr val="1A1A1A"/>
                </a:solidFill>
                <a:latin typeface="Calibri"/>
              </a:rPr>
              <a:t>Adding a 4th tray:  front = (5 − 1 + 8) % 8 = 4.  From index 0 the step left is index 7 — the + 8 stops a negative index.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1F3864"/>
                </a:solidFill>
                <a:latin typeface="Calibri"/>
              </a:rPr>
              <a:t>No tray ever moves, so add and remove are O(1). Switching mode moves nothing either: only the end that remove() reads changes.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411968" y="16075247"/>
            <a:ext cx="9451848" cy="4809648"/>
          </a:xfrm>
          <a:prstGeom prst="rect">
            <a:avLst/>
          </a:prstGeom>
          <a:solidFill>
            <a:srgbClr val="F4F6F9"/>
          </a:solidFill>
          <a:ln w="15875">
            <a:solidFill>
              <a:srgbClr val="BFC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0411968" y="16075247"/>
            <a:ext cx="9451848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686288" y="16166687"/>
            <a:ext cx="8903208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5.  Trace: One Ring, Both Modes</a:t>
            </a:r>
          </a:p>
        </p:txBody>
      </p:sp>
      <p:graphicFrame>
        <p:nvGraphicFramePr>
          <p:cNvPr id="73" name="Table 72"/>
          <p:cNvGraphicFramePr>
            <a:graphicFrameLocks noGrp="1"/>
          </p:cNvGraphicFramePr>
          <p:nvPr/>
        </p:nvGraphicFramePr>
        <p:xfrm>
          <a:off x="10668000" y="17126807"/>
          <a:ext cx="8939782" cy="24023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45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1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98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98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031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0394">
                <a:tc>
                  <a:txBody>
                    <a:bodyPr/>
                    <a:lstStyle/>
                    <a:p>
                      <a:pPr algn="l"/>
                      <a:r>
                        <a:rPr sz="1580" b="1">
                          <a:solidFill>
                            <a:srgbClr val="FFFFFF"/>
                          </a:solidFill>
                          <a:latin typeface="Calibri"/>
                        </a:rPr>
                        <a:t>Operation</a:t>
                      </a:r>
                    </a:p>
                  </a:txBody>
                  <a:tcPr marL="82296" marR="82296" anchor="ctr">
                    <a:solidFill>
                      <a:srgbClr val="2E52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1">
                          <a:solidFill>
                            <a:srgbClr val="FFFFFF"/>
                          </a:solidFill>
                          <a:latin typeface="Calibri"/>
                        </a:rPr>
                        <a:t>Calculation</a:t>
                      </a:r>
                    </a:p>
                  </a:txBody>
                  <a:tcPr marL="82296" marR="82296" anchor="ctr">
                    <a:solidFill>
                      <a:srgbClr val="2E52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1">
                          <a:solidFill>
                            <a:srgbClr val="FFFFFF"/>
                          </a:solidFill>
                          <a:latin typeface="Calibri"/>
                        </a:rPr>
                        <a:t>front</a:t>
                      </a:r>
                    </a:p>
                  </a:txBody>
                  <a:tcPr marL="82296" marR="82296" anchor="ctr">
                    <a:solidFill>
                      <a:srgbClr val="2E52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1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 marL="82296" marR="82296" anchor="ctr">
                    <a:solidFill>
                      <a:srgbClr val="2E52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1">
                          <a:solidFill>
                            <a:srgbClr val="FFFFFF"/>
                          </a:solidFill>
                          <a:latin typeface="Calibri"/>
                        </a:rPr>
                        <a:t>Front → back</a:t>
                      </a:r>
                    </a:p>
                  </a:txBody>
                  <a:tcPr marL="82296" marR="82296" anchor="ctr">
                    <a:solidFill>
                      <a:srgbClr val="2E52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394">
                <a:tc>
                  <a:txBody>
                    <a:bodyPr/>
                    <a:lstStyle/>
                    <a:p>
                      <a:pPr algn="l"/>
                      <a:r>
                        <a:rPr sz="1580" b="0">
                          <a:solidFill>
                            <a:srgbClr val="1A1A1A"/>
                          </a:solidFill>
                          <a:latin typeface="Calibri"/>
                        </a:rPr>
                        <a:t>add Burger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0">
                          <a:solidFill>
                            <a:srgbClr val="1A1A1A"/>
                          </a:solidFill>
                          <a:latin typeface="Consolas"/>
                        </a:rPr>
                        <a:t>(0-1+8) % 8 = 7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0">
                          <a:solidFill>
                            <a:srgbClr val="1A1A1A"/>
                          </a:solidFill>
                          <a:latin typeface="Calibri"/>
                        </a:rPr>
                        <a:t>Burger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394">
                <a:tc>
                  <a:txBody>
                    <a:bodyPr/>
                    <a:lstStyle/>
                    <a:p>
                      <a:pPr algn="l"/>
                      <a:r>
                        <a:rPr sz="1580" b="0">
                          <a:solidFill>
                            <a:srgbClr val="1A1A1A"/>
                          </a:solidFill>
                          <a:latin typeface="Calibri"/>
                        </a:rPr>
                        <a:t>add Pizza</a:t>
                      </a:r>
                    </a:p>
                  </a:txBody>
                  <a:tcPr marL="82296" marR="82296" anchor="ctr"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0">
                          <a:solidFill>
                            <a:srgbClr val="1A1A1A"/>
                          </a:solidFill>
                          <a:latin typeface="Consolas"/>
                        </a:rPr>
                        <a:t>(7-1+8) % 8 = 6</a:t>
                      </a:r>
                    </a:p>
                  </a:txBody>
                  <a:tcPr marL="82296" marR="82296" anchor="ctr"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82296" marR="82296" anchor="ctr"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82296" anchor="ctr"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0">
                          <a:solidFill>
                            <a:srgbClr val="1A1A1A"/>
                          </a:solidFill>
                          <a:latin typeface="Calibri"/>
                        </a:rPr>
                        <a:t>Pizza, Burger</a:t>
                      </a:r>
                    </a:p>
                  </a:txBody>
                  <a:tcPr marL="82296" marR="82296" anchor="ctr">
                    <a:solidFill>
                      <a:srgbClr val="EA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394">
                <a:tc>
                  <a:txBody>
                    <a:bodyPr/>
                    <a:lstStyle/>
                    <a:p>
                      <a:pPr algn="l"/>
                      <a:r>
                        <a:rPr sz="1580" b="0">
                          <a:solidFill>
                            <a:srgbClr val="1A1A1A"/>
                          </a:solidFill>
                          <a:latin typeface="Calibri"/>
                        </a:rPr>
                        <a:t>add Fries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0">
                          <a:solidFill>
                            <a:srgbClr val="1A1A1A"/>
                          </a:solidFill>
                          <a:latin typeface="Consolas"/>
                        </a:rPr>
                        <a:t>(6-1+8) % 8 = 5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0">
                          <a:solidFill>
                            <a:srgbClr val="1A1A1A"/>
                          </a:solidFill>
                          <a:latin typeface="Calibri"/>
                        </a:rPr>
                        <a:t>Fries, Pizza, Burger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394">
                <a:tc>
                  <a:txBody>
                    <a:bodyPr/>
                    <a:lstStyle/>
                    <a:p>
                      <a:pPr algn="l"/>
                      <a:r>
                        <a:rPr sz="1580" b="0">
                          <a:solidFill>
                            <a:srgbClr val="1A1A1A"/>
                          </a:solidFill>
                          <a:latin typeface="Calibri"/>
                        </a:rPr>
                        <a:t>remove — QUEUE</a:t>
                      </a:r>
                    </a:p>
                  </a:txBody>
                  <a:tcPr marL="82296" marR="82296" anchor="ctr"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0">
                          <a:solidFill>
                            <a:srgbClr val="1A1A1A"/>
                          </a:solidFill>
                          <a:latin typeface="Consolas"/>
                        </a:rPr>
                        <a:t>back = (5+3-1) % 8 = 7</a:t>
                      </a:r>
                    </a:p>
                  </a:txBody>
                  <a:tcPr marL="82296" marR="82296" anchor="ctr"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2296" marR="82296" anchor="ctr"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82296" anchor="ctr"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0">
                          <a:solidFill>
                            <a:srgbClr val="1A1A1A"/>
                          </a:solidFill>
                          <a:latin typeface="Calibri"/>
                        </a:rPr>
                        <a:t>Fries, Pizza</a:t>
                      </a:r>
                    </a:p>
                  </a:txBody>
                  <a:tcPr marL="82296" marR="82296" anchor="ctr">
                    <a:solidFill>
                      <a:srgbClr val="EA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394">
                <a:tc>
                  <a:txBody>
                    <a:bodyPr/>
                    <a:lstStyle/>
                    <a:p>
                      <a:pPr algn="l"/>
                      <a:r>
                        <a:rPr sz="1580" b="0">
                          <a:solidFill>
                            <a:srgbClr val="1A1A1A"/>
                          </a:solidFill>
                          <a:latin typeface="Calibri"/>
                        </a:rPr>
                        <a:t>remove — STACK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0">
                          <a:solidFill>
                            <a:srgbClr val="1A1A1A"/>
                          </a:solidFill>
                          <a:latin typeface="Consolas"/>
                        </a:rPr>
                        <a:t>front = (5+1) % 8 = 6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0">
                          <a:solidFill>
                            <a:srgbClr val="1A1A1A"/>
                          </a:solidFill>
                          <a:latin typeface="Calibri"/>
                        </a:rPr>
                        <a:t>Pizza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4" name="TextBox 73"/>
          <p:cNvSpPr txBox="1"/>
          <p:nvPr/>
        </p:nvSpPr>
        <p:spPr>
          <a:xfrm>
            <a:off x="10668000" y="19766917"/>
            <a:ext cx="8939783" cy="776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0" b="0" i="0">
                <a:solidFill>
                  <a:srgbClr val="1A1A1A"/>
                </a:solidFill>
                <a:latin typeface="Calibri"/>
              </a:rPr>
              <a:t>Step 1 is the wrap-around: index −1 does not exist, so + 8 and % 8 turn it into 7. Step 4 shows QUEUE mode removing the oldest tray (Burger, stored first); step 5 shows STACK mode removing the newest (Fries) — from the same array, with nothing re-ordered.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321016" y="3273552"/>
            <a:ext cx="9451848" cy="6622093"/>
          </a:xfrm>
          <a:prstGeom prst="rect">
            <a:avLst/>
          </a:prstGeom>
          <a:solidFill>
            <a:srgbClr val="F4F6F9"/>
          </a:solidFill>
          <a:ln w="15875">
            <a:solidFill>
              <a:srgbClr val="BFC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20321016" y="3273552"/>
            <a:ext cx="9451848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0595336" y="3364992"/>
            <a:ext cx="8903208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6.  Time &amp; Space Complexity</a:t>
            </a:r>
          </a:p>
        </p:txBody>
      </p:sp>
      <p:graphicFrame>
        <p:nvGraphicFramePr>
          <p:cNvPr id="78" name="Table 77"/>
          <p:cNvGraphicFramePr>
            <a:graphicFrameLocks noGrp="1"/>
          </p:cNvGraphicFramePr>
          <p:nvPr/>
        </p:nvGraphicFramePr>
        <p:xfrm>
          <a:off x="20577048" y="4325112"/>
          <a:ext cx="8939781" cy="27283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933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4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09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09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394">
                <a:tc>
                  <a:txBody>
                    <a:bodyPr/>
                    <a:lstStyle/>
                    <a:p>
                      <a:pPr algn="l"/>
                      <a:r>
                        <a:rPr sz="1580" b="1">
                          <a:solidFill>
                            <a:srgbClr val="FFFFFF"/>
                          </a:solidFill>
                          <a:latin typeface="Calibri"/>
                        </a:rPr>
                        <a:t>Operation</a:t>
                      </a:r>
                    </a:p>
                  </a:txBody>
                  <a:tcPr marL="82296" marR="82296" anchor="ctr">
                    <a:solidFill>
                      <a:srgbClr val="2E52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82296" marR="82296" anchor="ctr">
                    <a:solidFill>
                      <a:srgbClr val="2E52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82296" marR="82296" anchor="ctr">
                    <a:solidFill>
                      <a:srgbClr val="2E52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1">
                          <a:solidFill>
                            <a:srgbClr val="FFFFFF"/>
                          </a:solidFill>
                          <a:latin typeface="Calibri"/>
                        </a:rPr>
                        <a:t>Space</a:t>
                      </a:r>
                    </a:p>
                  </a:txBody>
                  <a:tcPr marL="82296" marR="82296" anchor="ctr">
                    <a:solidFill>
                      <a:srgbClr val="2E52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991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Add a tray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onsolas"/>
                        </a:rPr>
                        <a:t>addFirst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O(1)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O(1)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991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Remove — Stack / LIFO</a:t>
                      </a:r>
                    </a:p>
                  </a:txBody>
                  <a:tcPr marL="82296" marR="82296" anchor="ctr"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onsolas"/>
                        </a:rPr>
                        <a:t>removeFirst</a:t>
                      </a:r>
                    </a:p>
                  </a:txBody>
                  <a:tcPr marL="82296" marR="82296" anchor="ctr"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O(1)</a:t>
                      </a:r>
                    </a:p>
                  </a:txBody>
                  <a:tcPr marL="82296" marR="82296" anchor="ctr"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O(1)</a:t>
                      </a:r>
                    </a:p>
                  </a:txBody>
                  <a:tcPr marL="82296" marR="82296" anchor="ctr">
                    <a:solidFill>
                      <a:srgbClr val="EA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991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Remove — Queue / FIFO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onsolas"/>
                        </a:rPr>
                        <a:t>removeLast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O(1)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O(1)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991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Peek / get(i) / isEmpty / isFull</a:t>
                      </a:r>
                    </a:p>
                  </a:txBody>
                  <a:tcPr marL="82296" marR="82296" anchor="ctr"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onsolas"/>
                        </a:rPr>
                        <a:t>index only</a:t>
                      </a:r>
                    </a:p>
                  </a:txBody>
                  <a:tcPr marL="82296" marR="82296" anchor="ctr"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O(1)</a:t>
                      </a:r>
                    </a:p>
                  </a:txBody>
                  <a:tcPr marL="82296" marR="82296" anchor="ctr"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O(1)</a:t>
                      </a:r>
                    </a:p>
                  </a:txBody>
                  <a:tcPr marL="82296" marR="82296" anchor="ctr">
                    <a:solidFill>
                      <a:srgbClr val="EA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991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Change mode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onsolas"/>
                        </a:rPr>
                        <a:t>setMode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O(1)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O(1)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991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Display all trays</a:t>
                      </a:r>
                    </a:p>
                  </a:txBody>
                  <a:tcPr marL="82296" marR="82296" anchor="ctr"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onsolas"/>
                        </a:rPr>
                        <a:t>toList</a:t>
                      </a:r>
                    </a:p>
                  </a:txBody>
                  <a:tcPr marL="82296" marR="82296" anchor="ctr"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O(n)</a:t>
                      </a:r>
                    </a:p>
                  </a:txBody>
                  <a:tcPr marL="82296" marR="82296" anchor="ctr"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O(n)</a:t>
                      </a:r>
                    </a:p>
                  </a:txBody>
                  <a:tcPr marL="82296" marR="82296" anchor="ctr">
                    <a:solidFill>
                      <a:srgbClr val="EA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9" name="TextBox 78"/>
          <p:cNvSpPr txBox="1"/>
          <p:nvPr/>
        </p:nvSpPr>
        <p:spPr>
          <a:xfrm>
            <a:off x="20577048" y="7569465"/>
            <a:ext cx="8939783" cy="4650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n = trays stored (at most 8). Overall memory is O(8): the array is allocated once, at a fixed size.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0577048" y="8199145"/>
            <a:ext cx="8939783" cy="1467176"/>
          </a:xfrm>
          <a:prstGeom prst="rect">
            <a:avLst/>
          </a:prstGeom>
          <a:solidFill>
            <a:srgbClr val="FBE4D5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0778216" y="8400313"/>
            <a:ext cx="8537448" cy="1064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760" b="1" i="0">
                <a:solidFill>
                  <a:srgbClr val="C55A11"/>
                </a:solidFill>
                <a:latin typeface="Calibri"/>
              </a:rPr>
              <a:t>Why only one operation is O(n)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0" b="0" i="0">
                <a:solidFill>
                  <a:srgbClr val="1A1A1A"/>
                </a:solidFill>
                <a:latin typeface="Calibri"/>
              </a:rPr>
              <a:t>Displaying every tray is the only operation that has to visit all of them, copying each one into a list to be printed. Every other operation reaches its cell with a single index calculation and touches nothing else — that is what the circular array buys us.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0321016" y="10307125"/>
            <a:ext cx="9451848" cy="4452186"/>
          </a:xfrm>
          <a:prstGeom prst="rect">
            <a:avLst/>
          </a:prstGeom>
          <a:solidFill>
            <a:srgbClr val="F4F6F9"/>
          </a:solidFill>
          <a:ln w="15875">
            <a:solidFill>
              <a:srgbClr val="BFC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20321016" y="10307125"/>
            <a:ext cx="9451848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0595336" y="10398565"/>
            <a:ext cx="8903208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7.  Advantages &amp; Limitations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0577048" y="11358685"/>
            <a:ext cx="4332731" cy="3162552"/>
          </a:xfrm>
          <a:prstGeom prst="rect">
            <a:avLst/>
          </a:prstGeom>
          <a:solidFill>
            <a:srgbClr val="E2EFE6"/>
          </a:solidFill>
          <a:ln w="15875">
            <a:solidFill>
              <a:srgbClr val="1E6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0778216" y="11559853"/>
            <a:ext cx="3930395" cy="2760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</a:pPr>
            <a:r>
              <a:rPr sz="1760" b="1" i="0">
                <a:solidFill>
                  <a:srgbClr val="1E6B3A"/>
                </a:solidFill>
                <a:latin typeface="Calibri"/>
              </a:rPr>
              <a:t>ADVANTAGES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Add, remove and peek are O(1) — the fastest possible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One structure covers both of the chef's options, and switching mode moves no tray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The 8-tray limit is enforced by the structure itself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Queue mode sends the oldest food out first, so less of it expires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Generic: CircularDeque&lt;T&gt; is reusable beyond food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5184100" y="11358685"/>
            <a:ext cx="4332731" cy="3162552"/>
          </a:xfrm>
          <a:prstGeom prst="rect">
            <a:avLst/>
          </a:prstGeom>
          <a:solidFill>
            <a:srgbClr val="FDECEC"/>
          </a:solidFill>
          <a:ln w="15875">
            <a:solidFill>
              <a:srgbClr val="B4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5385268" y="11559853"/>
            <a:ext cx="3930395" cy="2760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</a:pPr>
            <a:r>
              <a:rPr sz="1760" b="1" i="0">
                <a:solidFill>
                  <a:srgbClr val="B42C2C"/>
                </a:solidFill>
                <a:latin typeface="Calibri"/>
              </a:rPr>
              <a:t>LIMITATIONS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Listing every tray is O(n); every other operation touches one cell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A tray cannot be taken from the middle, only from either 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The capacity cannot grow: a 9th tray is refused, not resized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Data lives in memory only, so it is lost when the app closes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0321016" y="15170791"/>
            <a:ext cx="9451848" cy="5714104"/>
          </a:xfrm>
          <a:prstGeom prst="rect">
            <a:avLst/>
          </a:prstGeom>
          <a:solidFill>
            <a:srgbClr val="F4F6F9"/>
          </a:solidFill>
          <a:ln w="15875">
            <a:solidFill>
              <a:srgbClr val="BFC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20321016" y="15170791"/>
            <a:ext cx="9451848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0595336" y="15262231"/>
            <a:ext cx="8903208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8.  Team Contributions &amp; GitHub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577048" y="16222351"/>
            <a:ext cx="8939783" cy="12695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IE" sz="2000" dirty="0">
                <a:solidFill>
                  <a:srgbClr val="1A1A1A"/>
                </a:solidFill>
                <a:latin typeface="Calibri"/>
              </a:rPr>
              <a:t>Maycon —  CircularDeque, FoodStorage, the model package, both exceptions, and their 22 tests</a:t>
            </a:r>
            <a:r>
              <a:rPr lang="en-IE" sz="2000" b="0" i="0" dirty="0">
                <a:solidFill>
                  <a:srgbClr val="1A1A1A"/>
                </a:solidFill>
                <a:latin typeface="Calibri"/>
              </a:rPr>
              <a:t/>
            </a:r>
            <a:r>
              <a:rPr sz="2000" b="0" i="0" dirty="0">
                <a:solidFill>
                  <a:srgbClr val="1A1A1A"/>
                </a:solidFill>
                <a:latin typeface="Calibri"/>
              </a:rPr>
              <a:t/>
            </a:r>
            <a:r>
              <a:rPr sz="2000" b="0" i="0" dirty="0" err="1">
                <a:solidFill>
                  <a:srgbClr val="1A1A1A"/>
                </a:solidFill>
                <a:latin typeface="Calibri"/>
              </a:rPr>
              <a:t/>
            </a:r>
            <a:r>
              <a:rPr sz="2000" b="0" i="0" dirty="0">
                <a:solidFill>
                  <a:srgbClr val="1A1A1A"/>
                </a:solidFill>
                <a:latin typeface="Calibri"/>
              </a:rPr>
              <a:t/>
            </a:r>
            <a:r>
              <a:rPr sz="2000" b="0" i="0" dirty="0" err="1">
                <a:solidFill>
                  <a:srgbClr val="1A1A1A"/>
                </a:solidFill>
                <a:latin typeface="Calibri"/>
              </a:rPr>
              <a:t/>
            </a:r>
            <a:r>
              <a:rPr sz="2000" b="0" i="0" dirty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IE" sz="2000" b="0" i="0" dirty="0">
                <a:solidFill>
                  <a:srgbClr val="1A1A1A"/>
                </a:solidFill>
                <a:latin typeface="Calibri"/>
              </a:rPr>
              <a:t>Grazielle </a:t>
            </a:r>
            <a:r>
              <a:rPr sz="2000" b="0" i="0" dirty="0">
                <a:solidFill>
                  <a:srgbClr val="1A1A1A"/>
                </a:solidFill>
                <a:latin typeface="Calibri"/>
              </a:rPr>
              <a:t>—  </a:t>
            </a:r>
            <a:r>
              <a:rPr sz="2000" b="0" i="0" dirty="0" err="1">
                <a:solidFill>
                  <a:srgbClr val="1A1A1A"/>
                </a:solidFill>
                <a:latin typeface="Calibri"/>
              </a:rPr>
              <a:t>FoodStorageApp</a:t>
            </a:r>
            <a:r>
              <a:rPr sz="2000" b="0" i="0" dirty="0">
                <a:solidFill>
                  <a:srgbClr val="1A1A1A"/>
                </a:solidFill>
                <a:latin typeface="Calibri"/>
              </a:rPr>
              <a:t>, </a:t>
            </a:r>
            <a:r>
              <a:rPr sz="2000" b="0" i="0" dirty="0" err="1">
                <a:solidFill>
                  <a:srgbClr val="1A1A1A"/>
                </a:solidFill>
                <a:latin typeface="Calibri"/>
              </a:rPr>
              <a:t>InputHelper</a:t>
            </a:r>
            <a:r>
              <a:rPr sz="2000" b="0" i="0" dirty="0">
                <a:solidFill>
                  <a:srgbClr val="1A1A1A"/>
                </a:solidFill>
                <a:latin typeface="Calibri"/>
              </a:rPr>
              <a:t>, </a:t>
            </a:r>
            <a:r>
              <a:rPr sz="2000" b="0" i="0" dirty="0" err="1">
                <a:solidFill>
                  <a:srgbClr val="1A1A1A"/>
                </a:solidFill>
                <a:latin typeface="Calibri"/>
              </a:rPr>
              <a:t>StorageMenu</a:t>
            </a:r>
            <a:r>
              <a:rPr sz="2000" b="0" i="0" dirty="0">
                <a:solidFill>
                  <a:srgbClr val="1A1A1A"/>
                </a:solidFill>
                <a:latin typeface="Calibri"/>
              </a:rPr>
              <a:t>, the 5 menu tests, README and poster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0577048" y="17749571"/>
            <a:ext cx="8939783" cy="634627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20723352" y="17895875"/>
            <a:ext cx="8647175" cy="3420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onsolas"/>
              </a:rPr>
              <a:t>github.com/MikeAlme13/CA1---Algorithms-Architecture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0577048" y="18567078"/>
            <a:ext cx="8939783" cy="2084831"/>
          </a:xfrm>
          <a:prstGeom prst="rect">
            <a:avLst/>
          </a:prstGeom>
          <a:solidFill>
            <a:srgbClr val="FFFFFF"/>
          </a:solidFill>
          <a:ln w="22225">
            <a:solidFill>
              <a:srgbClr val="5A60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0942808" y="18841398"/>
            <a:ext cx="8208263" cy="1536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</a:pPr>
            <a:r>
              <a:rPr sz="1939" b="1" i="0">
                <a:solidFill>
                  <a:srgbClr val="5A606A"/>
                </a:solidFill>
                <a:latin typeface="Calibri"/>
              </a:rPr>
              <a:t>GITHUB COMMITS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0" b="0" i="0">
                <a:solidFill>
                  <a:srgbClr val="5A606A"/>
                </a:solidFill>
                <a:latin typeface="Calibri"/>
              </a:rPr>
              <a:t>Cole aqui o print do historico. Atencao: o GitHub divide em 2 paginas - a pagina 1 tem so os commits da Grazielle e a pagina 2 os do Maycon. Capture as duas, lado a lado.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1292</Words>
  <Application>Microsoft Office PowerPoint</Application>
  <PresentationFormat>Custom</PresentationFormat>
  <Paragraphs>176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Consolas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Maycon Almeida</cp:lastModifiedBy>
  <cp:revision>1</cp:revision>
  <dcterms:created xsi:type="dcterms:W3CDTF">2013-01-27T09:14:16Z</dcterms:created>
  <dcterms:modified xsi:type="dcterms:W3CDTF">2026-10-04T09:00:55Z</dcterms:modified>
  <cp:category/>
</cp:coreProperties>
</file>